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6b6c2c6e2b46ef" /><Relationship Type="http://schemas.openxmlformats.org/officeDocument/2006/relationships/extended-properties" Target="/docProps/app.xml" Id="Rd1fe60124d4b49c7" /><Relationship Type="http://schemas.openxmlformats.org/officeDocument/2006/relationships/officeDocument" Target="/ppt/presentation.xml" Id="Rdf9b21fefb16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38920716104c91"/>
  </p:sldMasterIdLst>
  <p:notesMasterIdLst>
    <p:notesMasterId xmlns:r="http://schemas.openxmlformats.org/officeDocument/2006/relationships" r:id="Rda13c0bfc47f485e"/>
  </p:notesMasterIdLst>
  <p:sldIdLst>
    <p:sldId xmlns:r="http://schemas.openxmlformats.org/officeDocument/2006/relationships" id="256" r:id="Rcd8400a386ca4f3b"/>
    <p:sldId xmlns:r="http://schemas.openxmlformats.org/officeDocument/2006/relationships" id="257" r:id="Rbb170d0d2b1d4869"/>
    <p:sldId xmlns:r="http://schemas.openxmlformats.org/officeDocument/2006/relationships" id="258" r:id="R0c10f89595eb419a"/>
    <p:sldId xmlns:r="http://schemas.openxmlformats.org/officeDocument/2006/relationships" id="259" r:id="R5486bd9ee9634a1c"/>
    <p:sldId xmlns:r="http://schemas.openxmlformats.org/officeDocument/2006/relationships" id="260" r:id="R9a7090ed9cc04224"/>
    <p:sldId xmlns:r="http://schemas.openxmlformats.org/officeDocument/2006/relationships" id="261" r:id="Rb3fe4c5ea45b45f7"/>
    <p:sldId xmlns:r="http://schemas.openxmlformats.org/officeDocument/2006/relationships" id="262" r:id="Re2408f3fd0d24259"/>
    <p:sldId xmlns:r="http://schemas.openxmlformats.org/officeDocument/2006/relationships" id="263" r:id="R8304e53202dc4f49"/>
    <p:sldId xmlns:r="http://schemas.openxmlformats.org/officeDocument/2006/relationships" id="264" r:id="R132611d3f8b942e0"/>
    <p:sldId xmlns:r="http://schemas.openxmlformats.org/officeDocument/2006/relationships" id="265" r:id="R7828572be3434192"/>
    <p:sldId xmlns:r="http://schemas.openxmlformats.org/officeDocument/2006/relationships" id="266" r:id="R7f05aa59c2c1453c"/>
    <p:sldId xmlns:r="http://schemas.openxmlformats.org/officeDocument/2006/relationships" id="267" r:id="R62a7b400c0c849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fd2dcf3d34dff" /><Relationship Type="http://schemas.openxmlformats.org/officeDocument/2006/relationships/slideMaster" Target="/ppt/slideMasters/slideMaster1.xml" Id="Re038920716104c91" /><Relationship Type="http://schemas.openxmlformats.org/officeDocument/2006/relationships/notesMaster" Target="/ppt/notesMasters/notesMaster1.xml" Id="Rda13c0bfc47f485e" /><Relationship Type="http://schemas.openxmlformats.org/officeDocument/2006/relationships/presProps" Target="/ppt/presProps.xml" Id="R4c1654f421f544bc" /><Relationship Type="http://schemas.openxmlformats.org/officeDocument/2006/relationships/tableStyles" Target="/ppt/tableStyles.xml" Id="R420d25cf7dc74133" /><Relationship Type="http://schemas.openxmlformats.org/officeDocument/2006/relationships/slide" Target="/ppt/slides/slide1.xml" Id="Rcd8400a386ca4f3b" /><Relationship Type="http://schemas.openxmlformats.org/officeDocument/2006/relationships/slide" Target="/ppt/slides/slide2.xml" Id="Rbb170d0d2b1d4869" /><Relationship Type="http://schemas.openxmlformats.org/officeDocument/2006/relationships/slide" Target="/ppt/slides/slide3.xml" Id="R0c10f89595eb419a" /><Relationship Type="http://schemas.openxmlformats.org/officeDocument/2006/relationships/slide" Target="/ppt/slides/slide4.xml" Id="R5486bd9ee9634a1c" /><Relationship Type="http://schemas.openxmlformats.org/officeDocument/2006/relationships/slide" Target="/ppt/slides/slide5.xml" Id="R9a7090ed9cc04224" /><Relationship Type="http://schemas.openxmlformats.org/officeDocument/2006/relationships/slide" Target="/ppt/slides/slide6.xml" Id="Rb3fe4c5ea45b45f7" /><Relationship Type="http://schemas.openxmlformats.org/officeDocument/2006/relationships/slide" Target="/ppt/slides/slide7.xml" Id="Re2408f3fd0d24259" /><Relationship Type="http://schemas.openxmlformats.org/officeDocument/2006/relationships/slide" Target="/ppt/slides/slide8.xml" Id="R8304e53202dc4f49" /><Relationship Type="http://schemas.openxmlformats.org/officeDocument/2006/relationships/slide" Target="/ppt/slides/slide9.xml" Id="R132611d3f8b942e0" /><Relationship Type="http://schemas.openxmlformats.org/officeDocument/2006/relationships/slide" Target="/ppt/slides/slide10.xml" Id="R7828572be3434192" /><Relationship Type="http://schemas.openxmlformats.org/officeDocument/2006/relationships/slide" Target="/ppt/slides/slide11.xml" Id="R7f05aa59c2c1453c" /><Relationship Type="http://schemas.openxmlformats.org/officeDocument/2006/relationships/slide" Target="/ppt/slides/slide12.xml" Id="R62a7b400c0c849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6a1172d93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fe32797b24a0e" /><Relationship Type="http://schemas.openxmlformats.org/officeDocument/2006/relationships/notesMaster" Target="/ppt/notesMasters/notesMaster1.xml" Id="Ra7bf7a811406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4ba46b5cd47fa" /><Relationship Type="http://schemas.openxmlformats.org/officeDocument/2006/relationships/notesMaster" Target="/ppt/notesMasters/notesMaster1.xml" Id="R6db1f6c910634f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104b0977514a3c" /><Relationship Type="http://schemas.openxmlformats.org/officeDocument/2006/relationships/notesMaster" Target="/ppt/notesMasters/notesMaster1.xml" Id="R32cdf1ba963e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af45eede1e4206" /><Relationship Type="http://schemas.openxmlformats.org/officeDocument/2006/relationships/notesMaster" Target="/ppt/notesMasters/notesMaster1.xml" Id="Rebb5868b452846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42b66ea6f4fd3" /><Relationship Type="http://schemas.openxmlformats.org/officeDocument/2006/relationships/notesMaster" Target="/ppt/notesMasters/notesMaster1.xml" Id="R18838f48a98043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c6fa8aa6c843f0" /><Relationship Type="http://schemas.openxmlformats.org/officeDocument/2006/relationships/notesMaster" Target="/ppt/notesMasters/notesMaster1.xml" Id="Rf7f834c4ac084a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4d982055aa4ab2" /><Relationship Type="http://schemas.openxmlformats.org/officeDocument/2006/relationships/notesMaster" Target="/ppt/notesMasters/notesMaster1.xml" Id="R2fb6f22c7d6a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20d0b629ab4aed" /><Relationship Type="http://schemas.openxmlformats.org/officeDocument/2006/relationships/notesMaster" Target="/ppt/notesMasters/notesMaster1.xml" Id="R176e1925577b44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b667673d4c402f" /><Relationship Type="http://schemas.openxmlformats.org/officeDocument/2006/relationships/notesMaster" Target="/ppt/notesMasters/notesMaster1.xml" Id="R0f3ce4af5a3a43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24574cf3334029" /><Relationship Type="http://schemas.openxmlformats.org/officeDocument/2006/relationships/notesMaster" Target="/ppt/notesMasters/notesMaster1.xml" Id="Rd1d595acc93849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a92acc7ed9473b" /><Relationship Type="http://schemas.openxmlformats.org/officeDocument/2006/relationships/notesMaster" Target="/ppt/notesMasters/notesMaster1.xml" Id="Reb45ca13156948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8338251df94a03" /><Relationship Type="http://schemas.openxmlformats.org/officeDocument/2006/relationships/notesMaster" Target="/ppt/notesMasters/notesMaster1.xml" Id="Rb3d2d94e01564f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封面。课程主题、对象、时长和生成产物来自 A12 演示需求。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本页说明教学目标和入门课定位。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本页用学生容易理解的语言解释人工智能。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本页拆解 AI 决策链。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本页用校园生活场景连接概念。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本页给出互动小游戏规则和分工。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本页给教师直接可用的时间安排。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本页解释 A12 的 RAG 与多模态资料解析能力。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本页给出评价标准。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本页布置课后作业。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本页用于比赛展示 A12 产品流程。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053a17d47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e3924cf0d41c6" /><Relationship Type="http://schemas.openxmlformats.org/officeDocument/2006/relationships/slideLayout" Target="/ppt/slideLayouts/slideLayout1.xml" Id="Rbdebb7091fa0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bb7091fa0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b5dd2552e459b" /><Relationship Type="http://schemas.openxmlformats.org/officeDocument/2006/relationships/notesSlide" Target="/ppt/notesSlides/notesSlide1.xml" Id="Ra3470d6a2ca9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32726e8264e26" /><Relationship Type="http://schemas.openxmlformats.org/officeDocument/2006/relationships/notesSlide" Target="/ppt/notesSlides/notesSlide2.xml" Id="R8a8704b13e2943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b6880d1ed4211" /><Relationship Type="http://schemas.openxmlformats.org/officeDocument/2006/relationships/notesSlide" Target="/ppt/notesSlides/notesSlide3.xml" Id="Rbdc8935e889d4d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5ee5137db4c5a" /><Relationship Type="http://schemas.openxmlformats.org/officeDocument/2006/relationships/notesSlide" Target="/ppt/notesSlides/notesSlide4.xml" Id="Rcc315c514db540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3fdbe4f1949f6" /><Relationship Type="http://schemas.openxmlformats.org/officeDocument/2006/relationships/notesSlide" Target="/ppt/notesSlides/notesSlide5.xml" Id="Rd262adc861a549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edb82b2a444b" /><Relationship Type="http://schemas.openxmlformats.org/officeDocument/2006/relationships/notesSlide" Target="/ppt/notesSlides/notesSlide6.xml" Id="R7b13b1892bc34d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5486af4f74c0d" /><Relationship Type="http://schemas.openxmlformats.org/officeDocument/2006/relationships/notesSlide" Target="/ppt/notesSlides/notesSlide7.xml" Id="Rf16868acaf2d4e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5606b5a7441e8" /><Relationship Type="http://schemas.openxmlformats.org/officeDocument/2006/relationships/notesSlide" Target="/ppt/notesSlides/notesSlide8.xml" Id="Rda05c4611ec6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04388023d4165" /><Relationship Type="http://schemas.openxmlformats.org/officeDocument/2006/relationships/notesSlide" Target="/ppt/notesSlides/notesSlide9.xml" Id="Rb109ed97ecf044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e9231b80c4576" /><Relationship Type="http://schemas.openxmlformats.org/officeDocument/2006/relationships/notesSlide" Target="/ppt/notesSlides/notesSlide10.xml" Id="R7737119c5e9b4a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8f855a0784752" /><Relationship Type="http://schemas.openxmlformats.org/officeDocument/2006/relationships/notesSlide" Target="/ppt/notesSlides/notesSlide11.xml" Id="Rcf27e524304e45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61772fb124749" /><Relationship Type="http://schemas.openxmlformats.org/officeDocument/2006/relationships/notesSlide" Target="/ppt/notesSlides/notesSlide12.xml" Id="Rcb540a92622c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5E745-C7D4-4E62-A974-26EA13BB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5676900"/>
          </a:xfrm>
          <a:prstGeom xmlns:a="http://schemas.openxmlformats.org/drawingml/2006/main" prst="roundRect">
            <a:avLst>
              <a:gd name="adj" fmla="val 13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6D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19128-5658-4132-AD38-B984F31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811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A12 Studio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82FCD-DDC3-4D21-89B4-8E8F976B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人工智能导论课件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D6B2A-BD0B-4C33-9187-752E5E76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面向大一学生 · 45 分钟 · 案例教学 + 小组互动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ACAEC-6318-4F5C-B236-CDBB3D5A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1FBEF"/>
          </a:solidFill>
          <a:ln xmlns:a="http://schemas.openxmlformats.org/drawingml/2006/main" w="11430">
            <a:solidFill>
              <a:srgbClr val="BEE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95A21-DF46-4CF2-8B22-CB126B2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7B2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7B2E"/>
                </a:solidFill>
                <a:latin typeface="PingFang SC"/>
                <a:ea typeface="PingFang SC"/>
                <a:cs typeface="PingFang SC"/>
              </a:rPr>
              <a:t>Pi Agent</a:t>
            </a:r>
          </a:p>
          <a:p xmlns:a="http://schemas.openxmlformats.org/drawingml/2006/main">
            <a:pPr>
              <a:defRPr sz="2250" b="1">
                <a:solidFill>
                  <a:srgbClr val="2D7B2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7B2E"/>
                </a:solidFill>
                <a:latin typeface="PingFang SC"/>
                <a:ea typeface="PingFang SC"/>
                <a:cs typeface="PingFang SC"/>
              </a:rPr>
              <a:t>已生成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5BC6B-B4BC-475B-972E-1D6C67CF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PPTX 课件 · Word 教案 · HTML5 小游戏</a:t>
            </a:r>
          </a:p>
        </p:txBody>
      </p:sp>
    </p:spTree>
    <p:extLst>
      <p:ext uri="{BB962C8B-B14F-4D97-AF65-F5344CB8AC3E}">
        <p14:creationId xmlns:p14="http://schemas.microsoft.com/office/powerpoint/2010/main" val="903745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EB2B8-E526-4450-AA49-077FC544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课程设计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FA033-3FBF-4AB5-8D09-AD0B39C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这节课要解决什么问题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257FA-2878-488E-83C8-5712DF9E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55053-62B9-4DCB-B4A4-6099329B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FEC49-DA25-4A55-9CFC-F9E5D5BC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90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4C0DD-782F-4141-8CE2-348F3A4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050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让学生用生活语言解释人工智能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74B43-76E5-44E4-99B8-70FF6016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1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03B14-A17B-4763-B73F-6E553B2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955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用校园场景理解数据、模型、训练和推理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89C83-2DBA-4ABE-A3CC-6817FC5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82B00-09DB-49C3-8274-02D632CF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通过四人小组活动完成一个 AI 决策链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9A3AF-B13F-4CF4-A949-140B1904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9A62B-EA90-4C36-82F9-097AE908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766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在课后能分析一个真实 App 的智能功能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EE7BC-0E41-4209-81EE-65EF29F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571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0E059-9E72-48B5-B788-0AB2F6FB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905D4-DEF6-4D25-82A6-C5B4EA22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240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课堂定位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03133-84AD-4146-8C6A-9337785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05075"/>
            <a:ext cx="2152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这是一节入门课，不追求算法细节。重点是建立概念框架和判断意识。</a:t>
            </a:r>
          </a:p>
        </p:txBody>
      </p:sp>
    </p:spTree>
    <p:extLst>
      <p:ext uri="{BB962C8B-B14F-4D97-AF65-F5344CB8AC3E}">
        <p14:creationId xmlns:p14="http://schemas.microsoft.com/office/powerpoint/2010/main" val="1093900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4F041-674A-4574-B637-587C4452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概念导入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7B72-FD7E-4EB5-98C2-CAA1DAAF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什么是人工智能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FE77A-A904-4F55-B1E5-69E38F1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5B79E-DA38-463F-AC19-34C870F1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EC59D-B558-4212-9E9E-26415E29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人工智能让机器根据数据作出判断，并把判断转化为可执行的结果。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1FF7D-1894-4CDF-A3C4-3060612D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76175-1313-417F-BF58-65AED6CF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6C418-BE03-4919-A5F3-BB6F48A3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不是魔法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3087A-A9AF-4FA0-A5AD-91E8AD98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系统依赖数据、规则、模型和反馈。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629C8-DDCA-4E3A-AC91-3D0CEB40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9F02A-D882-4ED2-BEE5-6AD423AE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A1C5E-9CFB-4A37-8705-3738778F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14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不是万能答案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D721A-6376-4A7C-8777-7C6AE31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69570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输出结果需要人判断是否可靠。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1F857-6F05-4F88-8DC1-872811B1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DBD0D-1AFC-4B6D-B63F-7B42C9C3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BB609-7270-43E1-8ED7-8820A46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是一种工具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42BA0-E2FF-4FDA-B8A2-26BCC73D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243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帮助人处理信息、发现模式、提高效率。</a:t>
            </a:r>
          </a:p>
        </p:txBody>
      </p:sp>
    </p:spTree>
    <p:extLst>
      <p:ext uri="{BB962C8B-B14F-4D97-AF65-F5344CB8AC3E}">
        <p14:creationId xmlns:p14="http://schemas.microsoft.com/office/powerpoint/2010/main" val="205374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640FB-48D1-4DED-8F0F-8C8A0BAB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B5A0A-42BD-45B0-ABC4-EDD7412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AI 如何完成一次判断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B83B0-AD7A-4612-AFFC-A8544400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3A09-F247-4ADF-AEC3-3847B42A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34462-C6B6-4724-A646-F6A5C312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1FBEF"/>
          </a:solidFill>
          <a:ln xmlns:a="http://schemas.openxmlformats.org/drawingml/2006/main" w="11430">
            <a:solidFill>
              <a:srgbClr val="BEE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F9E57-B9CF-45B4-BC3A-0DA324F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289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DFE87-3960-44FE-9FF6-16BBD5A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数据输入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C8085-2D3A-44CB-8326-3CAF8D1D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81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收集图片、文本、行为记录或传感器数据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E322D-8D83-47D3-AC54-D5EE6823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812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39D83-27E7-482B-B766-DC6A8FAC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289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493FD-3FA6-4F8E-A7BB-873D9D05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模型判断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A2489-2E25-4B9F-8C0F-86D02DDC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581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模型根据训练经验识别模式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1C4A9-CBC8-4A11-86EE-CC61F019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812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283DF-C85E-4250-BE5F-B662541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289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0703E-BFE6-43FB-A68F-39CA987B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输出结果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B7981-FD10-43A4-B2B5-FC3F0AFC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581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系统给出推荐、分类、预测或提醒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74BA5-1723-4201-B1DA-CE7FE532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8125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AC706-5846-4EA8-80E7-4E8D84C3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289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5494E-6795-48EF-97CD-6930DF60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956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反馈修正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9B31D-F2E6-487B-B2BA-0439568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81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人或系统根据结果继续优化</a:t>
            </a:r>
          </a:p>
        </p:txBody>
      </p:sp>
    </p:spTree>
    <p:extLst>
      <p:ext uri="{BB962C8B-B14F-4D97-AF65-F5344CB8AC3E}">
        <p14:creationId xmlns:p14="http://schemas.microsoft.com/office/powerpoint/2010/main" val="1206018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4DDDA-0844-4322-BDD7-D53544BC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校园案例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EA4A6-4349-4DE9-9346-B373D20A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学生每天都会遇到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15F40-97CE-4D50-8A18-21014570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DB3B-1FEE-4268-A587-3948D31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C852E-E544-4732-A528-FEB6AB22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C6B67-57C6-4CB5-A6C8-7F9138A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DAF93-B176-47DD-AFBA-5F9CCE53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校园门禁识别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8961E-C33A-4B5F-BB24-93C6F96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622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摄像头采集人脸特征，模型判断是否匹配，系统决定是否放行。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9D3C4-CAC2-4DB3-AEA2-D5373580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33B00-5C28-4FB8-B7C7-830AE960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6A54A-AD0E-4CE8-8846-8D3D1DBD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学习平台推荐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B8C72-8AD4-4637-A2EC-46D81982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622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系统记录学习行为，判断薄弱知识点，推荐练习或视频。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9E22A-6FB5-4C0C-83A6-F2673EC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E36D2-1E7D-4D56-9BFE-D3398C12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C4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C5939-3691-46E9-AD97-4CBE02BC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81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食堂客流预测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D7352-F5D5-43F1-8A04-2D66E05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622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系统分析历史就餐数据，预测高峰时段，辅助窗口调度。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426DE-D706-41AA-9946-2E9A171E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提问：这些系统分别用了哪些数据？它们可能会出错吗？</a:t>
            </a:r>
          </a:p>
        </p:txBody>
      </p:sp>
    </p:spTree>
    <p:extLst>
      <p:ext uri="{BB962C8B-B14F-4D97-AF65-F5344CB8AC3E}">
        <p14:creationId xmlns:p14="http://schemas.microsoft.com/office/powerpoint/2010/main" val="1598897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E6A22-B6DC-4FEF-A080-96B4A21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课堂活动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DC64F-FF97-4051-959F-078E3C01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四人小组 AI 决策链小游戏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AD2D8-2BCA-4A88-AF68-E1D84B2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10DDA-F901-445B-AF5C-D6239DEA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3FBCD-13BE-4820-B612-9A601BF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14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每组选择一个校园场景，在 8 分钟内完成一张决策链卡片。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CF256-E01F-46C5-840B-8290359B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9AB2D-A125-4565-A714-D7A84CF2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79FBD-FB0A-40DF-83FF-9D03FA98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860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资料员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D552E-62D4-4253-A85D-61E81B25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6707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记录场景里可能产生的数据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BF932-15C8-46D4-8238-CDE59F77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2E1FC-02CC-4971-9E87-FA9550D5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2A15B-4308-4942-B0E6-68A0E863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8607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建模员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14FE1-3CA6-4C65-B195-24DBC2B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6707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判断模型需要识别什么模式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9CBB1-7890-4CB1-B4F6-BEA348B7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BDE33-F212-4D77-89A2-E4E29B52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3987F-AB41-4090-9D73-BE052D5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体验员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B497F-D31E-4EDB-94A8-3F4CD69E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描述系统输出对人的影响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9EE40-CAD0-4E76-811E-902F3835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45C7B-9397-4DDA-9089-CF0408D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00D2B-B70C-4857-88A7-6A04E2FC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6245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风控员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5543A-4AAD-4239-9B4E-5F77AA9F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43450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指出隐私、公平或误判风险</a:t>
            </a:r>
          </a:p>
        </p:txBody>
      </p:sp>
    </p:spTree>
    <p:extLst>
      <p:ext uri="{BB962C8B-B14F-4D97-AF65-F5344CB8AC3E}">
        <p14:creationId xmlns:p14="http://schemas.microsoft.com/office/powerpoint/2010/main" val="160886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2EB1B-77E3-4A48-8E58-A5FE7CA4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教学流程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6B93A-8002-4E9F-90C9-546F19A8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45 分钟课堂安排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7B798-BF37-46B5-9636-6678AA58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3A139-F1D2-4BAE-B0C3-B3A8955E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956BB-80C2-4D05-A036-D78F0BC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BE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B2E07-A860-4CB8-A11A-ED322BC5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38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0-5 分钟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0DEDD-6693-4717-B788-F4133A22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校园案例导入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5C600-251B-42B8-A67C-1C5A0A4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19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从门禁识别或学习推荐提问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C2724-5550-4999-B810-5D91237C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9092C-8F94-4FC1-90BC-F8037620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574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5-18 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6E797-DF5E-4199-9490-7BC4B36F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概念讲授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6BE61-8B05-4AEA-BE30-F9834498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38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解释数据、模型、训练和推理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7688A-8BB5-4FC4-ABDB-C620A3CA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0517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2CAC3-8B83-4F81-A94C-F299A86B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18-30 分钟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9051D-6033-4650-B95C-C70C906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案例拆解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9BF1D-58A6-4900-AA35-B4C4BD9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575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分析三个校园 AI 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3ED94-73B9-422C-9F10-FE63DBAC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08011-7F06-4C5A-A390-E99F8392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95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30-40 分钟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0C29B-E2BA-4A0B-A5E1-0DA0D824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小组活动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D6B50-E89E-45C4-9239-433D6DEB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767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完成 AI 决策链卡片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476E7-EE05-4502-BA8A-870C3CF0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43475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5040C-A8C8-4211-9C14-813C426B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149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40-45 分钟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A906F-EB65-4265-9DD7-5C51E438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总结与作业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02846-B283-4909-8448-8B5913DD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回到“可靠性和边界”</a:t>
            </a:r>
          </a:p>
        </p:txBody>
      </p:sp>
    </p:spTree>
    <p:extLst>
      <p:ext uri="{BB962C8B-B14F-4D97-AF65-F5344CB8AC3E}">
        <p14:creationId xmlns:p14="http://schemas.microsoft.com/office/powerpoint/2010/main" val="430103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19458-381E-475A-9B98-F14D73E7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资料融合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91353-5B1A-4D5D-8FD6-EEC2526C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A12 如何利用课程资料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D7A48-6EBE-4E23-8668-B2E4FF34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B7FA3-51CD-4A49-979E-F95D4339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8E0D9-F552-45CB-BA10-D001D1DA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857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F71CC-FFF1-4B5E-A644-51C4BC5A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B0F12-BF89-4CF6-B19A-3C4E9E4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PDF 教材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62C70-CA2A-4B07-BF2B-37381EF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2438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提取章节结构、术语解释和关键例子。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0A228-6B9F-49EA-B8C2-D02E1A04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F3D2B-A733-4D21-B64F-3F9E982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E18D2-2C4F-40C2-A45E-6698E077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71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课堂视频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1B61B-8178-4593-8A41-BF324D1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2438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生成摘要、提取关键帧，补充讲解顺序。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44534-4DBF-48A1-865A-B31D9FCA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2857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75F7B-8FD7-4EE4-B457-DAAB3488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C4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CF02F-EED1-4339-BF00-202ACCC9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教学大纲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69BDB-F569-452D-8958-E0BD114B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438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约束课程目标、重难点和评价方式。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FEF09-05CC-4C04-B026-C16912C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RAG 的作用：让课件内容有依据，减少泛泛而谈。</a:t>
            </a:r>
          </a:p>
        </p:txBody>
      </p:sp>
    </p:spTree>
    <p:extLst>
      <p:ext uri="{BB962C8B-B14F-4D97-AF65-F5344CB8AC3E}">
        <p14:creationId xmlns:p14="http://schemas.microsoft.com/office/powerpoint/2010/main" val="621761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C2FEB-1CDD-4B33-A4E3-30BB5BD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课堂评价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D6912-BF76-4B34-9516-E5A0B35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学生是否真正理解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1AAA4-78B2-4460-867F-73961BF1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39478-2489-45AC-B4C4-BAEBE44C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71FA2-DE72-4A4C-BF39-64961CA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38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104B8-8D13-4DD6-B1E5-69B6BA8A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52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能说出一个校园 AI 应用的数据来源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356DB-08CD-42A8-8EFB-52B44BA0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D82D0-92DE-42CC-85DF-729892A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431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能画出输入、判断、输出和反馈过程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4ED72-CB13-4583-B125-5A1C7EDB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94FAF-9A07-4C31-884E-53DDFE16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1337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能指出一个可能的误判或隐私风险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2D8E-104F-4CC0-B7F2-7BD55944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0003D-6BC2-42EB-B8AE-C310DBC8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242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能用自己的语言解释 AI 不是万能答案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1BD86-620A-4F7E-9C9E-2C2E23A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C72BB-0D13-4A78-85FB-064D582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BD892-D759-443E-A978-7525A46A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评价方式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24311-7FD9-4F3A-B8FC-F1180FCC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292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7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课堂活动卡片 60%，小组展示 20%，课后分析 20%。</a:t>
            </a:r>
          </a:p>
        </p:txBody>
      </p:sp>
    </p:spTree>
    <p:extLst>
      <p:ext uri="{BB962C8B-B14F-4D97-AF65-F5344CB8AC3E}">
        <p14:creationId xmlns:p14="http://schemas.microsoft.com/office/powerpoint/2010/main" val="911325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60DAC5-3912-41A3-879F-A19E66C2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课后作业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C6315-01A5-4092-B540-7D406DE0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观察一个真实 AI 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7826-8B86-4EB3-B555-6E045DC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7010D-BA15-41E9-AD83-92DF876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46F1-E229-4D39-8EBC-BEC4FBB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选择一个常用 App 的智能功能，完成一页分析。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94CC2-C2F3-40B9-B7A6-63EECC8D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9EC45-0C22-4385-9693-B33FED85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05A5D-2610-4392-9329-26C0CC1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765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写清输入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54B32-0B7C-403D-89D5-F2C23D7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57575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系统可能收集了哪些数据？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A707B-E90C-45ED-88AE-95DB0743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53E99-363A-42F3-8B2A-546BE05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B080B-AA37-4C06-8E3D-34F98415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765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解释判断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4135D-1C0B-42E7-B6E4-2DF105F4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57575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模型可能在判断什么？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C6535-6343-4BEA-BA7F-7016A3D7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57BB5-3FB5-44B0-9165-4CFD987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C4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BA624-8D20-4A2B-925D-99E5DB9C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0765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评价结果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B892C-E078-4D04-98C2-65AEE86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57575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输出对用户有什么帮助或风险？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E7793-EC0F-47B9-B6B0-00018CC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提交形式：一页 PDF 或 Word 文档。</a:t>
            </a:r>
          </a:p>
        </p:txBody>
      </p:sp>
    </p:spTree>
    <p:extLst>
      <p:ext uri="{BB962C8B-B14F-4D97-AF65-F5344CB8AC3E}">
        <p14:creationId xmlns:p14="http://schemas.microsoft.com/office/powerpoint/2010/main" val="2080260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02B81-87C7-4B03-A02A-983E79A7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教师工作流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6487-EFC1-405C-A2F4-B09F1079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从一句需求到完整课堂包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C268E-3764-4687-9ABC-CB56816E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A12 Teaching Agent ·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B98B0-3ECD-4052-8E05-D65FC755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多模态 AI 互动式教学智能体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D0E6-ACEE-4049-A576-FE40F6E7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输入需求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6C8A-6C36-41D7-B0A3-DE2F69A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课程主题、对象、时长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0D1A1-0531-465A-9512-59598329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773F1-5D31-4AB9-A653-5371BE6A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0E8FD-3F18-4AA3-8956-93FC58E6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上传资料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A5C57-A3D2-4946-B3AE-1CD59120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教材、视频、大纲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A9E3D-D736-48C4-8987-25EAE4E4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E8D70-FF21-45A9-B48F-5F2F4E7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35D53-338B-4AEB-A632-658F49D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智能生成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98163-343A-4EB4-87EA-5418767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7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课件、教案、互动方案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39B42-78B3-46B7-995E-2F7DC58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FBEF"/>
          </a:solidFill>
          <a:ln xmlns:a="http://schemas.openxmlformats.org/drawingml/2006/main" w="11430">
            <a:solidFill>
              <a:srgbClr val="BEE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3957A-F276-40AF-B5F3-9077B01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B2FEB-FFF5-4991-9C73-B5D1B71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86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6"/>
                </a:solidFill>
                <a:latin typeface="PingFang SC"/>
                <a:ea typeface="PingFang SC"/>
                <a:cs typeface="PingFang SC"/>
              </a:rPr>
              <a:t>继续修改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F1790-03A8-4B11-860F-D4B1798A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8707A"/>
                </a:solidFill>
                <a:latin typeface="PingFang SC"/>
                <a:ea typeface="PingFang SC"/>
                <a:cs typeface="PingFang SC"/>
              </a:rPr>
              <a:t>按教师意见迭代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9D81B-3E45-4C33-8B77-85359080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4E6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DD051-2B03-4FAB-BE82-C4C8966F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33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5C466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6853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B1B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EBBE-D799-4704-A2D2-F3511F35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A12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5E2DD-C237-4A88-81ED-23F25F9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让教师把教学想法快速变成可上课的材料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4C900-CF13-4CDA-BADC-60CD1C0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6D8D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6D8DD"/>
                </a:solidFill>
                <a:latin typeface="PingFang SC"/>
                <a:ea typeface="PingFang SC"/>
                <a:cs typeface="PingFang SC"/>
              </a:rPr>
              <a:t>PPTX 课件 · DOCX 教案 · HTML5 互动小游戏 · RAG 知识库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4DA9A-7F5A-4504-A076-79676143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8577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BEF"/>
          </a:solidFill>
          <a:ln xmlns:a="http://schemas.openxmlformats.org/drawingml/2006/main" w="11430">
            <a:solidFill>
              <a:srgbClr val="BEE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F665-44EE-447B-AF7A-7163F011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7B2E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D7B2E"/>
                </a:solidFill>
                <a:latin typeface="PingFang SC"/>
                <a:ea typeface="PingFang SC"/>
                <a:cs typeface="PingFang SC"/>
              </a:rPr>
              <a:t>Pi Agent ready</a:t>
            </a:r>
          </a:p>
        </p:txBody>
      </p:sp>
    </p:spTree>
    <p:extLst>
      <p:ext uri="{BB962C8B-B14F-4D97-AF65-F5344CB8AC3E}">
        <p14:creationId xmlns:p14="http://schemas.microsoft.com/office/powerpoint/2010/main" val="811359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2026-09-13T04:38:59.1520000Z</dcterms:created>
  <dcterms:modified xsi:type="dcterms:W3CDTF">2026-09-13T04:38:59.1520000Z</dcterms:modified>
</coreProperties>
</file>